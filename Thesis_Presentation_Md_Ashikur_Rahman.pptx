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976D2"/>
                </a:solidFill>
              </a:defRPr>
            </a:pPr>
            <a:r>
              <a:t>Dynamic Web Performance Optimization</a:t>
            </a:r>
          </a:p>
          <a:p>
            <a:r>
              <a:t>Using Machine Learning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By: Md Ashikur Rahman</a:t>
            </a:r>
          </a:p>
          <a:p>
            <a:pPr algn="ctr">
              <a:defRPr sz="2000"/>
            </a:pPr>
            <a:r>
              <a:t>Bachelor of Science in Computer Science and Engineering</a:t>
            </a:r>
          </a:p>
          <a:p>
            <a:pPr algn="ctr">
              <a:defRPr sz="2000"/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 &amp; Problem Statement</a:t>
            </a:r>
          </a:p>
          <a:p>
            <a:pPr>
              <a:defRPr sz="2000"/>
            </a:pPr>
            <a:r>
              <a:t>2. Literature Review</a:t>
            </a:r>
          </a:p>
          <a:p>
            <a:pPr>
              <a:defRPr sz="2000"/>
            </a:pPr>
            <a:r>
              <a:t>3. Research Methodology</a:t>
            </a:r>
          </a:p>
          <a:p>
            <a:pPr>
              <a:defRPr sz="2000"/>
            </a:pPr>
            <a:r>
              <a:t>4. Data Collection &amp; Preparation</a:t>
            </a:r>
          </a:p>
          <a:p>
            <a:pPr>
              <a:defRPr sz="2000"/>
            </a:pPr>
            <a:r>
              <a:t>5. Machine Learning Models</a:t>
            </a:r>
          </a:p>
          <a:p>
            <a:pPr>
              <a:defRPr sz="2000"/>
            </a:pPr>
            <a:r>
              <a:t>6. System Implementation</a:t>
            </a:r>
          </a:p>
          <a:p>
            <a:pPr>
              <a:defRPr sz="2000"/>
            </a:pPr>
            <a:r>
              <a:t>7. Results &amp; Analysis</a:t>
            </a:r>
          </a:p>
          <a:p>
            <a:pPr>
              <a:defRPr sz="2000"/>
            </a:pPr>
            <a:r>
              <a:t>8. Comparison with Related Research</a:t>
            </a:r>
          </a:p>
          <a:p>
            <a:pPr>
              <a:defRPr sz="2000"/>
            </a:pPr>
            <a:r>
              <a:t>9. Conclusions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Background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Performance Critical for User Experience</a:t>
            </a:r>
          </a:p>
          <a:p>
            <a:pPr lvl="1">
              <a:defRPr sz="1800"/>
            </a:pPr>
            <a:r>
              <a:t>53% of mobile users abandon sites taking &gt;3 seconds to load</a:t>
            </a:r>
          </a:p>
          <a:p>
            <a:pPr lvl="1">
              <a:defRPr sz="1800"/>
            </a:pPr>
            <a:r>
              <a:t>1-second delay can reduce conversions by 7%</a:t>
            </a:r>
          </a:p>
          <a:p>
            <a:pPr lvl="1">
              <a:defRPr sz="1800"/>
            </a:pPr>
            <a:r>
              <a:t>Google's Core Web Vitals now affect SEO rankings</a:t>
            </a:r>
          </a:p>
          <a:p>
            <a:pPr lvl="1">
              <a:defRPr sz="1800"/>
            </a:pPr>
            <a:r>
              <a:t>Manual optimization time-consuming and complex</a:t>
            </a:r>
          </a:p>
          <a:p>
            <a:pPr lvl="1">
              <a:defRPr sz="1800"/>
            </a:pPr>
            <a:r>
              <a:t>Need for automated, intelligent solutions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Challenges:</a:t>
            </a:r>
          </a:p>
          <a:p>
            <a:pPr lvl="1">
              <a:defRPr sz="2000"/>
            </a:pPr>
            <a:r>
              <a:t>Lack of automated tools for Core Web Vitals analysis</a:t>
            </a:r>
          </a:p>
          <a:p>
            <a:pPr lvl="1">
              <a:defRPr sz="2000"/>
            </a:pPr>
            <a:r>
              <a:t>Difficulty predicting website performance accurately</a:t>
            </a:r>
          </a:p>
          <a:p>
            <a:pPr lvl="1">
              <a:defRPr sz="2000"/>
            </a:pPr>
            <a:r>
              <a:t>No comprehensive ML approach for web optimization</a:t>
            </a:r>
          </a:p>
          <a:p>
            <a:pPr lvl="1">
              <a:defRPr sz="2000"/>
            </a:pPr>
            <a:r>
              <a:t>Limited research on Google's new performance metrics</a:t>
            </a:r>
          </a:p>
          <a:p>
            <a:br/>
            <a:pPr>
              <a:defRPr sz="2200" b="1">
                <a:solidFill>
                  <a:srgbClr val="2E7D32"/>
                </a:solidFill>
              </a:defRPr>
            </a:pPr>
            <a:r>
              <a:t>Proposed Solution:</a:t>
            </a:r>
          </a:p>
          <a:p>
            <a:pPr lvl="1">
              <a:defRPr sz="1800"/>
            </a:pPr>
            <a:r>
              <a:t>Machine Learning-powered platform for automated web performance prediction and optimization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Develop ML models for Core Web Vitals prediction</a:t>
            </a:r>
          </a:p>
          <a:p>
            <a:pPr>
              <a:defRPr sz="2200"/>
            </a:pPr>
            <a:r>
              <a:t>2. Compare different labeling strategies</a:t>
            </a:r>
          </a:p>
          <a:p>
            <a:pPr>
              <a:defRPr sz="2200"/>
            </a:pPr>
            <a:r>
              <a:t>3. Evaluate multiple ML algorithms (RF, LightGBM, Keras)</a:t>
            </a:r>
          </a:p>
          <a:p>
            <a:pPr>
              <a:defRPr sz="2200"/>
            </a:pPr>
            <a:r>
              <a:t>4. Build practical web-based platform</a:t>
            </a:r>
          </a:p>
          <a:p>
            <a:pPr>
              <a:defRPr sz="2200"/>
            </a:pPr>
            <a:r>
              <a:t>5. Achieve superior accuracy vs existing research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Web Vitals: 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LCP (Largest Contentful Paint)</a:t>
            </a:r>
          </a:p>
          <a:p>
            <a:pPr>
              <a:defRPr sz="1800"/>
            </a:pPr>
            <a:r>
              <a:t>LCP (Largest Contentful Paint): Loading performance - should be &lt; 2.5s</a:t>
            </a:r>
          </a:p>
          <a:p>
            <a:pPr>
              <a:defRPr sz="1800"/>
            </a:pPr>
            <a:r>
              <a:t>FCP (First Contentful Paint): First visible content - should be &lt; 1.8s</a:t>
            </a:r>
          </a:p>
          <a:p>
            <a:pPr>
              <a:defRPr sz="1800"/>
            </a:pPr>
            <a:r>
              <a:t>CLS (Cumulative Layout Shift): Visual stability - should be &lt; 0.1</a:t>
            </a:r>
          </a:p>
          <a:p>
            <a:pPr>
              <a:defRPr sz="1800"/>
            </a:pPr>
            <a:r>
              <a:t>TTI (Time to Interactive): Interactivity - should be &lt; 3.8s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Review: Related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Previous Studies:</a:t>
            </a:r>
          </a:p>
          <a:p>
            <a:pPr lvl="1">
              <a:defRPr sz="1800"/>
            </a:pPr>
            <a:r>
              <a:t>Chen et al. (2019): Conversion prediction - 87% accuracy</a:t>
            </a:r>
          </a:p>
          <a:p>
            <a:pPr lvl="1">
              <a:defRPr sz="1800"/>
            </a:pPr>
            <a:r>
              <a:t>Wang et al. (2022): UX prediction - 91% accuracy</a:t>
            </a:r>
          </a:p>
          <a:p>
            <a:pPr lvl="1">
              <a:defRPr sz="1800"/>
            </a:pPr>
            <a:r>
              <a:t>Kumar &amp; Singh (2021): Quality assessment - 89% accuracy</a:t>
            </a:r>
          </a:p>
          <a:p>
            <a:pPr lvl="1">
              <a:defRPr sz="1800"/>
            </a:pPr>
            <a:r>
              <a:t>Google Web.dev: Core Web Vitals standards</a:t>
            </a:r>
          </a:p>
          <a:p>
            <a:pPr lvl="1">
              <a:defRPr sz="1800"/>
            </a:pPr>
            <a:r>
              <a:t>Ke et al. (2017): LightGBM gradient boosting framework</a:t>
            </a:r>
          </a:p>
          <a:p>
            <a:br/>
            <a:pPr>
              <a:defRPr sz="1800" b="1">
                <a:solidFill>
                  <a:srgbClr val="2E7D32"/>
                </a:solidFill>
              </a:defRPr>
            </a:pPr>
            <a:r>
              <a:t>Research Gap: No comprehensive ML study focusing specifically on Core Web Vitals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</a:t>
            </a:r>
          </a:p>
          <a:p>
            <a:pPr>
              <a:defRPr sz="1800"/>
            </a:pPr>
            <a:r>
              <a:t>   → 1,167 websites across diverse domains</a:t>
            </a:r>
          </a:p>
          <a:p>
            <a:pPr>
              <a:defRPr sz="1800"/>
            </a:pPr>
            <a:r>
              <a:t>   → 22 performance metrics per website</a:t>
            </a:r>
          </a:p>
          <a:p>
            <a:pPr>
              <a:defRPr sz="1800"/>
            </a:pPr>
            <a:r>
              <a:t>2. Data Preparation</a:t>
            </a:r>
          </a:p>
          <a:p>
            <a:pPr>
              <a:defRPr sz="1800"/>
            </a:pPr>
            <a:r>
              <a:t>   → Cleaning, normalization, feature engineering</a:t>
            </a:r>
          </a:p>
          <a:p>
            <a:pPr>
              <a:defRPr sz="1800"/>
            </a:pPr>
            <a:r>
              <a:t>3. Labeling Strategies (3 approaches)</a:t>
            </a:r>
          </a:p>
          <a:p>
            <a:pPr>
              <a:defRPr sz="1800"/>
            </a:pPr>
            <a:r>
              <a:t>   → Tertiles, Weighted Scoring, K-means Clustering</a:t>
            </a:r>
          </a:p>
          <a:p>
            <a:pPr>
              <a:defRPr sz="1800"/>
            </a:pPr>
            <a:r>
              <a:t>4. Model Training (9 models total)</a:t>
            </a:r>
          </a:p>
          <a:p>
            <a:pPr>
              <a:defRPr sz="1800"/>
            </a:pPr>
            <a:r>
              <a:t>   → 3 strategies × 3 algorithms</a:t>
            </a:r>
          </a:p>
          <a:p>
            <a:pPr>
              <a:defRPr sz="1800"/>
            </a:pPr>
            <a:r>
              <a:t>5. Evaluation &amp;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Dataset: 1,167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Sources:</a:t>
            </a:r>
          </a:p>
          <a:p>
            <a:pPr lvl="1">
              <a:defRPr sz="1800"/>
            </a:pPr>
            <a:r>
              <a:t>Multiple domains (e-commerce, news, blogs, SaaS)</a:t>
            </a:r>
          </a:p>
          <a:p>
            <a:pPr lvl="1">
              <a:defRPr sz="1800"/>
            </a:pPr>
            <a:r>
              <a:t>All Core Web Vitals metrics collected</a:t>
            </a:r>
          </a:p>
          <a:p>
            <a:pPr lvl="1">
              <a:defRPr sz="1800"/>
            </a:pPr>
            <a:r>
              <a:t>Additional metrics: DOM size, requests, page weight</a:t>
            </a:r>
          </a:p>
          <a:p>
            <a:br/>
            <a:pPr lvl="1">
              <a:defRPr sz="1800"/>
            </a:pPr>
            <a:r>
              <a:t>Total Features: 22 metrics</a:t>
            </a:r>
          </a:p>
          <a:p>
            <a:br/>
            <a:pPr lvl="1">
              <a:defRPr sz="1800"/>
            </a:pPr>
            <a:r>
              <a:t>Data Quality:</a:t>
            </a:r>
          </a:p>
          <a:p>
            <a:pPr lvl="1">
              <a:defRPr sz="1800"/>
            </a:pPr>
            <a:r>
              <a:t>   ✓ No missing values after imputation</a:t>
            </a:r>
          </a:p>
          <a:p>
            <a:pPr lvl="1">
              <a:defRPr sz="1800"/>
            </a:pPr>
            <a:r>
              <a:t>   ✓ Outliers handled appropriately</a:t>
            </a:r>
          </a:p>
          <a:p>
            <a:pPr lvl="1">
              <a:defRPr sz="1800"/>
            </a:pPr>
            <a:r>
              <a:t>   ✓ Standardized and normalized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Labeling Strategies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Tertiles Strategy</a:t>
            </a:r>
          </a:p>
          <a:p>
            <a:pPr>
              <a:defRPr sz="1600"/>
            </a:pPr>
            <a:r>
              <a:t>   → Divides data into three equal parts</a:t>
            </a:r>
          </a:p>
          <a:p>
            <a:pPr>
              <a:defRPr sz="1600"/>
            </a:pPr>
            <a:r>
              <a:t>   → Simple, statistically grounded</a:t>
            </a:r>
          </a:p>
          <a:p>
            <a:pPr>
              <a:defRPr sz="1600"/>
            </a:pPr>
            <a:r>
              <a:t>2. Weighted Scoring Strategy</a:t>
            </a:r>
          </a:p>
          <a:p>
            <a:pPr>
              <a:defRPr sz="1600"/>
            </a:pPr>
            <a:r>
              <a:t>   → Combines metrics with custom weights</a:t>
            </a:r>
          </a:p>
          <a:p>
            <a:pPr>
              <a:defRPr sz="1600"/>
            </a:pPr>
            <a:r>
              <a:t>   → LCP (40%), FCP (30%), CLS (20%), TTI (10%)</a:t>
            </a:r>
          </a:p>
          <a:p>
            <a:pPr>
              <a:defRPr sz="1600"/>
            </a:pPr>
            <a:r>
              <a:t>3. K-means Clustering Strategy ⭐</a:t>
            </a:r>
          </a:p>
          <a:p>
            <a:pPr>
              <a:defRPr sz="1600"/>
            </a:pPr>
            <a:r>
              <a:t>   → Unsupervised learning approach</a:t>
            </a:r>
          </a:p>
          <a:p>
            <a:pPr>
              <a:defRPr sz="1600"/>
            </a:pPr>
            <a:r>
              <a:t>   → Automatically finds natural groupings</a:t>
            </a:r>
          </a:p>
          <a:p>
            <a:pPr>
              <a:defRPr sz="1600"/>
            </a:pPr>
            <a:r>
              <a:t>   → BEST PERFORMANCE: 97.86%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Random Forest (RF)</a:t>
            </a:r>
          </a:p>
          <a:p>
            <a:pPr>
              <a:defRPr sz="1800"/>
            </a:pPr>
            <a:r>
              <a:t>   → Ensemble of decision trees</a:t>
            </a:r>
          </a:p>
          <a:p>
            <a:pPr>
              <a:defRPr sz="1800"/>
            </a:pPr>
            <a:r>
              <a:t>   → Robust to overfitting</a:t>
            </a:r>
          </a:p>
          <a:p>
            <a:pPr>
              <a:defRPr sz="1800"/>
            </a:pPr>
            <a:r>
              <a:t>2. LightGBM ⭐</a:t>
            </a:r>
          </a:p>
          <a:p>
            <a:pPr>
              <a:defRPr sz="1800"/>
            </a:pPr>
            <a:r>
              <a:t>   → Gradient boosting framework</a:t>
            </a:r>
          </a:p>
          <a:p>
            <a:pPr>
              <a:defRPr sz="1800"/>
            </a:pPr>
            <a:r>
              <a:t>   → Highly efficient, best performance</a:t>
            </a:r>
          </a:p>
          <a:p>
            <a:pPr>
              <a:defRPr sz="1800"/>
            </a:pPr>
            <a:r>
              <a:t>3. Keras Neural Network</a:t>
            </a:r>
          </a:p>
          <a:p>
            <a:pPr>
              <a:defRPr sz="1800"/>
            </a:pPr>
            <a:r>
              <a:t>   → Deep learning approach</a:t>
            </a:r>
          </a:p>
          <a:p>
            <a:pPr>
              <a:defRPr sz="1800"/>
            </a:pPr>
            <a:r>
              <a:t>   → 3 hidden layers, dropout regularization</a:t>
            </a:r>
          </a:p>
          <a:p>
            <a:br/>
            <a:pPr>
              <a:defRPr sz="1800"/>
            </a:pPr>
            <a:r>
              <a:t>All models trained with 80-20 train-test split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Next.js 15 + React</a:t>
            </a:r>
          </a:p>
          <a:p>
            <a:pPr lvl="1">
              <a:defRPr sz="1800"/>
            </a:pPr>
            <a:r>
              <a:t>   → Modern, responsive UI</a:t>
            </a:r>
          </a:p>
          <a:p>
            <a:pPr lvl="1">
              <a:defRPr sz="1800"/>
            </a:pPr>
            <a:r>
              <a:t>   → Real-time analysis dashboard</a:t>
            </a:r>
          </a:p>
          <a:p>
            <a:pPr lvl="1">
              <a:defRPr sz="1800"/>
            </a:pPr>
            <a:r>
              <a:t>Backend: Python FastAPI</a:t>
            </a:r>
          </a:p>
          <a:p>
            <a:pPr lvl="1">
              <a:defRPr sz="1800"/>
            </a:pPr>
            <a:r>
              <a:t>   → RESTful API for predictions</a:t>
            </a:r>
          </a:p>
          <a:p>
            <a:pPr lvl="1">
              <a:defRPr sz="1800"/>
            </a:pPr>
            <a:r>
              <a:t>   → Model serving with joblib</a:t>
            </a:r>
          </a:p>
          <a:p>
            <a:pPr lvl="1">
              <a:defRPr sz="1800"/>
            </a:pPr>
            <a:r>
              <a:t>Machine Learning: scikit-learn, LightGBM</a:t>
            </a:r>
          </a:p>
          <a:p>
            <a:pPr lvl="1">
              <a:defRPr sz="1800"/>
            </a:pPr>
            <a:r>
              <a:t>   → Trained models for instant predictions</a:t>
            </a:r>
          </a:p>
          <a:p>
            <a:pPr lvl="1">
              <a:defRPr sz="1800"/>
            </a:pPr>
            <a:r>
              <a:t>Deployment: Production-ready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2E7D32"/>
                </a:solidFill>
              </a:defRPr>
            </a:pPr>
            <a:r>
              <a:t>Best Model: LightGBM with K-means</a:t>
            </a:r>
          </a:p>
          <a:p>
            <a:br/>
            <a:pPr>
              <a:defRPr sz="2200"/>
            </a:pPr>
            <a:r>
              <a:t>✓ Accuracy: 97.86%</a:t>
            </a:r>
          </a:p>
          <a:p>
            <a:pPr>
              <a:defRPr sz="2200"/>
            </a:pPr>
            <a:r>
              <a:t>✓ Precision: 98.40%</a:t>
            </a:r>
          </a:p>
          <a:p>
            <a:pPr>
              <a:defRPr sz="2200"/>
            </a:pPr>
            <a:r>
              <a:t>✓ Recall: 98.53%</a:t>
            </a:r>
          </a:p>
          <a:p>
            <a:pPr>
              <a:defRPr sz="2200"/>
            </a:pPr>
            <a:r>
              <a:t>✓ F1-Score: 98.47%</a:t>
            </a:r>
          </a:p>
          <a:p>
            <a:br/>
            <a:pPr>
              <a:defRPr sz="2200"/>
            </a:pPr>
            <a:r>
              <a:t>Outperformed all 8 other model combinations!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 Models Performance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K-means + 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97.86%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98.40%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98.53%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98.47%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K-means + 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96.79%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96.80%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96.90%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K-means + Keras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95.54%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Weighted + 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94.87%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95.21%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Weighted + 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94.02%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93.93%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Tertiles + 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92.74%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93.13%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Tertiles + 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91.82%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Weighted + Keras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91.00%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Tertiles + Keras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89.32%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89.60%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89.72%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Top 5 Most Important Features:</a:t>
            </a:r>
          </a:p>
          <a:p>
            <a:br/>
            <a:pPr>
              <a:defRPr sz="2000"/>
            </a:pPr>
            <a:r>
              <a:t>1. LCP (Largest Contentful Paint) - 28.3%</a:t>
            </a:r>
          </a:p>
          <a:p>
            <a:pPr>
              <a:defRPr sz="2000"/>
            </a:pPr>
            <a:r>
              <a:t>2. FCP (First Contentful Paint) - 22.1%</a:t>
            </a:r>
          </a:p>
          <a:p>
            <a:pPr>
              <a:defRPr sz="2000"/>
            </a:pPr>
            <a:r>
              <a:t>3. TTI (Time to Interactive) - 18.7%</a:t>
            </a:r>
          </a:p>
          <a:p>
            <a:pPr>
              <a:defRPr sz="2000"/>
            </a:pPr>
            <a:r>
              <a:t>4. CLS (Cumulative Layout Shift) - 15.2%</a:t>
            </a:r>
          </a:p>
          <a:p>
            <a:pPr>
              <a:defRPr sz="2000"/>
            </a:pPr>
            <a:r>
              <a:t>5. Total Blocking Time - 8.9%</a:t>
            </a:r>
          </a:p>
          <a:p>
            <a:br/>
            <a:pPr>
              <a:defRPr sz="2000"/>
            </a:pPr>
            <a:r>
              <a:t>These 5 features account for 93.2% of prediction power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Superiority Over Related Research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Advantage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Chen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+11.47%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Kumar &amp; Singh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+9.47%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Wang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+7.47%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Our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98.47%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Best-in-class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Platform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Platform Capabilities:</a:t>
            </a:r>
          </a:p>
          <a:p>
            <a:br/>
            <a:pPr>
              <a:defRPr sz="2000"/>
            </a:pPr>
            <a:r>
              <a:t>✓ Instant performance predictions</a:t>
            </a:r>
          </a:p>
          <a:p>
            <a:pPr>
              <a:defRPr sz="2000"/>
            </a:pPr>
            <a:r>
              <a:t>✓ Visual performance grading (A-F)</a:t>
            </a:r>
          </a:p>
          <a:p>
            <a:pPr>
              <a:defRPr sz="2000"/>
            </a:pPr>
            <a:r>
              <a:t>✓ Core Web Vitals analysis</a:t>
            </a:r>
          </a:p>
          <a:p>
            <a:pPr>
              <a:defRPr sz="2000"/>
            </a:pPr>
            <a:r>
              <a:t>✓ Actionable optimization recommendations</a:t>
            </a:r>
          </a:p>
          <a:p>
            <a:pPr>
              <a:defRPr sz="2000"/>
            </a:pPr>
            <a:r>
              <a:t>✓ Performance score breakdown</a:t>
            </a:r>
          </a:p>
          <a:p>
            <a:pPr>
              <a:defRPr sz="2000"/>
            </a:pPr>
            <a:r>
              <a:t>✓ User-friendly dashboard interface</a:t>
            </a:r>
          </a:p>
          <a:p>
            <a:br/>
            <a:pPr>
              <a:defRPr sz="2000"/>
            </a:pPr>
            <a:r>
              <a:t>Deployed and accessible for real-world use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/>
            </a:pPr>
            <a:r>
              <a:t>Novel Contributions:</a:t>
            </a:r>
          </a:p>
          <a:p>
            <a:br/>
            <a:pPr>
              <a:defRPr sz="1800"/>
            </a:pPr>
            <a:r>
              <a:t>1. First comprehensive ML study on Core Web Vitals</a:t>
            </a:r>
          </a:p>
          <a:p>
            <a:pPr>
              <a:defRPr sz="1800"/>
            </a:pPr>
            <a:r>
              <a:t>2. Systematic comparison of 3 labeling strategies</a:t>
            </a:r>
          </a:p>
          <a:p>
            <a:pPr>
              <a:defRPr sz="1800"/>
            </a:pPr>
            <a:r>
              <a:t>3. Superior accuracy (98.47% vs 87-91% in prior work)</a:t>
            </a:r>
          </a:p>
          <a:p>
            <a:pPr>
              <a:defRPr sz="1800"/>
            </a:pPr>
            <a:r>
              <a:t>4. K-means clustering proved most effective</a:t>
            </a:r>
          </a:p>
          <a:p>
            <a:pPr>
              <a:defRPr sz="1800"/>
            </a:pPr>
            <a:r>
              <a:t>5. Production-ready web platform implementation</a:t>
            </a:r>
          </a:p>
          <a:p>
            <a:pPr>
              <a:defRPr sz="1800"/>
            </a:pPr>
            <a:r>
              <a:t>6. Open framework for future research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Limitations:</a:t>
            </a:r>
          </a:p>
          <a:p>
            <a:pPr lvl="1">
              <a:defRPr sz="1800"/>
            </a:pPr>
            <a:r>
              <a:t>   • Dataset limited to 1,167 websites</a:t>
            </a:r>
          </a:p>
          <a:p>
            <a:pPr lvl="1">
              <a:defRPr sz="1800"/>
            </a:pPr>
            <a:r>
              <a:t>   • Static analysis only (no real-time monitoring)</a:t>
            </a:r>
          </a:p>
          <a:p>
            <a:br/>
            <a:pPr lvl="1">
              <a:defRPr sz="1800"/>
            </a:pPr>
            <a:r>
              <a:t>Future Research Directions:</a:t>
            </a:r>
          </a:p>
          <a:p>
            <a:pPr lvl="1">
              <a:defRPr sz="1800"/>
            </a:pPr>
            <a:r>
              <a:t>   → Expand dataset to 10,000+ websites</a:t>
            </a:r>
          </a:p>
          <a:p>
            <a:pPr lvl="1">
              <a:defRPr sz="1800"/>
            </a:pPr>
            <a:r>
              <a:t>   → Real-time performance monitoring</a:t>
            </a:r>
          </a:p>
          <a:p>
            <a:pPr lvl="1">
              <a:defRPr sz="1800"/>
            </a:pPr>
            <a:r>
              <a:t>   → Mobile-specific optimizations</a:t>
            </a:r>
          </a:p>
          <a:p>
            <a:pPr lvl="1">
              <a:defRPr sz="1800"/>
            </a:pPr>
            <a:r>
              <a:t>   → Integration with CI/CD pipelines</a:t>
            </a:r>
          </a:p>
          <a:p>
            <a:pPr lvl="1">
              <a:defRPr sz="1800"/>
            </a:pPr>
            <a:r>
              <a:t>   → Deep learning architectures (Transformers)</a:t>
            </a:r>
          </a:p>
          <a:p>
            <a:pPr lvl="1">
              <a:defRPr sz="1800"/>
            </a:pPr>
            <a:r>
              <a:t>   → Multi-device performance prediction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/>
            </a:pPr>
            <a:r>
              <a:t>Key Achievements:</a:t>
            </a:r>
          </a:p>
          <a:p>
            <a:br/>
            <a:pPr>
              <a:defRPr sz="1800"/>
            </a:pPr>
            <a:r>
              <a:t>✓ Developed highly accurate ML models (98.47% F1)</a:t>
            </a:r>
          </a:p>
          <a:p>
            <a:pPr>
              <a:defRPr sz="1800"/>
            </a:pPr>
            <a:r>
              <a:t>✓ K-means + LightGBM proved optimal combination</a:t>
            </a:r>
          </a:p>
          <a:p>
            <a:pPr>
              <a:defRPr sz="1800"/>
            </a:pPr>
            <a:r>
              <a:t>✓ Outperformed all related research by 7-11%</a:t>
            </a:r>
          </a:p>
          <a:p>
            <a:pPr>
              <a:defRPr sz="1800"/>
            </a:pPr>
            <a:r>
              <a:t>✓ Built practical, production-ready platform</a:t>
            </a:r>
          </a:p>
          <a:p>
            <a:pPr>
              <a:defRPr sz="1800"/>
            </a:pPr>
            <a:r>
              <a:t>✓ Provided comprehensive framework for web optimization</a:t>
            </a:r>
          </a:p>
          <a:p>
            <a:br/>
            <a:pPr>
              <a:defRPr sz="1800"/>
            </a:pPr>
            <a:r>
              <a:t>This research demonstrates ML's potential in automated web performance optimization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976D2"/>
                </a:solidFill>
              </a:defRPr>
            </a:pPr>
            <a:r>
              <a:t>Thank You!</a:t>
            </a:r>
          </a:p>
          <a:p>
            <a:pPr algn="ctr">
              <a:defRPr sz="4800" b="1">
                <a:solidFill>
                  <a:srgbClr val="1976D2"/>
                </a:solidFill>
              </a:defRPr>
            </a:pPr>
          </a:p>
          <a:p>
            <a:pPr algn="ctr">
              <a:defRPr sz="4800" b="1">
                <a:solidFill>
                  <a:srgbClr val="1976D2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Md Ashikur Rahman</a:t>
            </a:r>
          </a:p>
          <a:p>
            <a:pPr algn="ctr">
              <a:defRPr sz="1600"/>
            </a:pPr>
            <a:r>
              <a:t>Dynamic Web Performance Optimization Using ML Analytics</a:t>
            </a:r>
          </a:p>
          <a:p>
            <a:pPr algn="ctr">
              <a:defRPr sz="1600"/>
            </a:pPr>
            <a:r>
              <a:t>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