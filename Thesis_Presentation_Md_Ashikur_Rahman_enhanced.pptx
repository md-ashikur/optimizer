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976D2"/>
                </a:solidFill>
              </a:defRPr>
            </a:pPr>
            <a:r>
              <a:t>Dynamic Web Performance Optimization</a:t>
            </a:r>
          </a:p>
          <a:p>
            <a:r>
              <a:t>Using Machine Learning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By: Md Ashikur Rahman</a:t>
            </a:r>
          </a:p>
          <a:p>
            <a:pPr algn="ctr">
              <a:defRPr sz="2000"/>
            </a:pPr>
            <a:r>
              <a:t>Bachelor of Science in Computer Science and Engineering</a:t>
            </a:r>
          </a:p>
          <a:p>
            <a:pPr algn="ctr">
              <a:defRPr sz="2000"/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Performance Critical for User Experience</a:t>
            </a:r>
          </a:p>
          <a:p>
            <a:pPr lvl="1">
              <a:defRPr sz="1800"/>
            </a:pPr>
            <a:r>
              <a:t>53% of mobile users abandon sites taking &gt;3 seconds to load</a:t>
            </a:r>
          </a:p>
          <a:p>
            <a:pPr lvl="1">
              <a:defRPr sz="1800"/>
            </a:pPr>
            <a:r>
              <a:t>1-second delay can reduce conversions by 7%</a:t>
            </a:r>
          </a:p>
          <a:p>
            <a:pPr lvl="1">
              <a:defRPr sz="1800"/>
            </a:pPr>
            <a:r>
              <a:t>Google's Core Web Vitals now affect SEO rankings</a:t>
            </a:r>
          </a:p>
          <a:p>
            <a:pPr lvl="1">
              <a:defRPr sz="1800"/>
            </a:pPr>
            <a:r>
              <a:t>Manual optimization time-consuming and complex</a:t>
            </a:r>
          </a:p>
          <a:p>
            <a:pPr lvl="1">
              <a:defRPr sz="1800"/>
            </a:pPr>
            <a:r>
              <a:t>Need for automated, intelligent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Challenges:</a:t>
            </a:r>
          </a:p>
          <a:p>
            <a:pPr lvl="1">
              <a:defRPr sz="2000"/>
            </a:pPr>
            <a:r>
              <a:t>Lack of automated tools for Core Web Vitals analysis</a:t>
            </a:r>
          </a:p>
          <a:p>
            <a:pPr lvl="1">
              <a:defRPr sz="2000"/>
            </a:pPr>
            <a:r>
              <a:t>Difficulty predicting website performance accurately</a:t>
            </a:r>
          </a:p>
          <a:p>
            <a:pPr lvl="1">
              <a:defRPr sz="2000"/>
            </a:pPr>
            <a:r>
              <a:t>No comprehensive ML approach for web optimization</a:t>
            </a:r>
          </a:p>
          <a:p>
            <a:pPr lvl="1">
              <a:defRPr sz="2000"/>
            </a:pPr>
            <a:r>
              <a:t>Limited research on Google's new performance metrics</a:t>
            </a:r>
          </a:p>
          <a:p>
            <a:br/>
            <a:pPr>
              <a:defRPr sz="2200" b="1">
                <a:solidFill>
                  <a:srgbClr val="2E7D32"/>
                </a:solidFill>
              </a:defRPr>
            </a:pPr>
            <a:r>
              <a:t>Proposed Solution:</a:t>
            </a:r>
          </a:p>
          <a:p>
            <a:pPr lvl="1">
              <a:defRPr sz="1800"/>
            </a:pPr>
            <a:r>
              <a:t>Machine Learning-powered platform for automated web performance prediction and optimization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ML models for Core Web Vitals prediction</a:t>
            </a:r>
          </a:p>
          <a:p>
            <a:pPr>
              <a:defRPr sz="2200"/>
            </a:pPr>
            <a:r>
              <a:t>2. Compare different labeling strategies</a:t>
            </a:r>
          </a:p>
          <a:p>
            <a:pPr>
              <a:defRPr sz="2200"/>
            </a:pPr>
            <a:r>
              <a:t>3. Evaluate multiple ML algorithms (RF, LightGBM, Keras)</a:t>
            </a:r>
          </a:p>
          <a:p>
            <a:pPr>
              <a:defRPr sz="2200"/>
            </a:pPr>
            <a:r>
              <a:t>4. Build practical web-based platform</a:t>
            </a:r>
          </a:p>
          <a:p>
            <a:pPr>
              <a:defRPr sz="2200"/>
            </a:pPr>
            <a:r>
              <a:t>5. Achieve superior accuracy vs existing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Web Vitals: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LCP (Largest Contentful Paint)</a:t>
            </a:r>
          </a:p>
          <a:p>
            <a:pPr>
              <a:defRPr sz="1800"/>
            </a:pPr>
            <a:r>
              <a:t>LCP (Largest Contentful Paint): Loading performance - should be &lt; 2.5s</a:t>
            </a:r>
          </a:p>
          <a:p>
            <a:pPr>
              <a:defRPr sz="1800"/>
            </a:pPr>
            <a:r>
              <a:t>FCP (First Contentful Paint): First visible content - should be &lt; 1.8s</a:t>
            </a:r>
          </a:p>
          <a:p>
            <a:pPr>
              <a:defRPr sz="1800"/>
            </a:pPr>
            <a:r>
              <a:t>CLS (Cumulative Layout Shift): Visual stability - should be &lt; 0.1</a:t>
            </a:r>
          </a:p>
          <a:p>
            <a:pPr>
              <a:defRPr sz="1800"/>
            </a:pPr>
            <a:r>
              <a:t>TTI (Time to Interactive): Interactivity - should be &lt; 3.8s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Related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Previous Studies:</a:t>
            </a:r>
          </a:p>
          <a:p>
            <a:pPr lvl="1">
              <a:defRPr sz="1800"/>
            </a:pPr>
            <a:r>
              <a:t>Chen et al. (2019): Conversion prediction - 87% accuracy</a:t>
            </a:r>
          </a:p>
          <a:p>
            <a:pPr lvl="1">
              <a:defRPr sz="1800"/>
            </a:pPr>
            <a:r>
              <a:t>Wang et al. (2022): UX prediction - 91% accuracy</a:t>
            </a:r>
          </a:p>
          <a:p>
            <a:pPr lvl="1">
              <a:defRPr sz="1800"/>
            </a:pPr>
            <a:r>
              <a:t>Kumar &amp; Singh (2021): Quality assessment - 89% accuracy</a:t>
            </a:r>
          </a:p>
          <a:p>
            <a:pPr lvl="1">
              <a:defRPr sz="1800"/>
            </a:pPr>
            <a:r>
              <a:t>Google Web.dev: Core Web Vitals standards</a:t>
            </a:r>
          </a:p>
          <a:p>
            <a:pPr lvl="1">
              <a:defRPr sz="1800"/>
            </a:pPr>
            <a:r>
              <a:t>Ke et al. (2017): LightGBM gradient boosting framework</a:t>
            </a:r>
          </a:p>
          <a:p>
            <a:br/>
            <a:pPr>
              <a:defRPr sz="1800" b="1">
                <a:solidFill>
                  <a:srgbClr val="2E7D32"/>
                </a:solidFill>
              </a:defRPr>
            </a:pPr>
            <a:r>
              <a:t>Research Gap: No comprehensive ML study focusing specifically on Core Web Vitals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pPr>
              <a:defRPr sz="1800"/>
            </a:pPr>
            <a:r>
              <a:t>   → 1,167 websites across diverse domains</a:t>
            </a:r>
          </a:p>
          <a:p>
            <a:pPr>
              <a:defRPr sz="1800"/>
            </a:pPr>
            <a:r>
              <a:t>   → 22 performance metrics per website</a:t>
            </a:r>
          </a:p>
          <a:p>
            <a:pPr>
              <a:defRPr sz="1800"/>
            </a:pPr>
            <a:r>
              <a:t>2. Data Preparation</a:t>
            </a:r>
          </a:p>
          <a:p>
            <a:pPr>
              <a:defRPr sz="1800"/>
            </a:pPr>
            <a:r>
              <a:t>   → Cleaning, normalization, feature engineering</a:t>
            </a:r>
          </a:p>
          <a:p>
            <a:pPr>
              <a:defRPr sz="1800"/>
            </a:pPr>
            <a:r>
              <a:t>3. Labeling Strategies (3 approaches)</a:t>
            </a:r>
          </a:p>
          <a:p>
            <a:pPr>
              <a:defRPr sz="1800"/>
            </a:pPr>
            <a:r>
              <a:t>   → Tertiles, Weighted Scoring, K-means Clustering</a:t>
            </a:r>
          </a:p>
          <a:p>
            <a:pPr>
              <a:defRPr sz="1800"/>
            </a:pPr>
            <a:r>
              <a:t>4. Model Training (9 models total)</a:t>
            </a:r>
          </a:p>
          <a:p>
            <a:pPr>
              <a:defRPr sz="1800"/>
            </a:pPr>
            <a:r>
              <a:t>   → 3 strategies × 3 algorithms</a:t>
            </a:r>
          </a:p>
          <a:p>
            <a:pPr>
              <a:defRPr sz="1800"/>
            </a:pPr>
            <a:r>
              <a:t>5. Evaluation &amp;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1,167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pPr lvl="1">
              <a:defRPr sz="1800"/>
            </a:pPr>
            <a:r>
              <a:t>Multiple domains (e-commerce, news, blogs, SaaS)</a:t>
            </a:r>
          </a:p>
          <a:p>
            <a:pPr lvl="1">
              <a:defRPr sz="1800"/>
            </a:pPr>
            <a:r>
              <a:t>All Core Web Vitals metrics collected</a:t>
            </a:r>
          </a:p>
          <a:p>
            <a:pPr lvl="1">
              <a:defRPr sz="1800"/>
            </a:pPr>
            <a:r>
              <a:t>Additional metrics: DOM size, requests, page weight</a:t>
            </a:r>
          </a:p>
          <a:p>
            <a:br/>
            <a:pPr lvl="1">
              <a:defRPr sz="1800"/>
            </a:pPr>
            <a:r>
              <a:t>Total Features: 22 metrics</a:t>
            </a:r>
          </a:p>
          <a:p>
            <a:br/>
            <a:pPr lvl="1">
              <a:defRPr sz="1800"/>
            </a:pPr>
            <a:r>
              <a:t>Data Quality:</a:t>
            </a:r>
          </a:p>
          <a:p>
            <a:pPr lvl="1">
              <a:defRPr sz="1800"/>
            </a:pPr>
            <a:r>
              <a:t>   ✓ No missing values after imputation</a:t>
            </a:r>
          </a:p>
          <a:p>
            <a:pPr lvl="1">
              <a:defRPr sz="1800"/>
            </a:pPr>
            <a:r>
              <a:t>   ✓ Outliers handled appropriately</a:t>
            </a:r>
          </a:p>
          <a:p>
            <a:pPr lvl="1">
              <a:defRPr sz="1800"/>
            </a:pPr>
            <a:r>
              <a:t>   ✓ Standardized and normalized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Labeling Strategies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Tertiles Strategy</a:t>
            </a:r>
          </a:p>
          <a:p>
            <a:pPr>
              <a:defRPr sz="1600"/>
            </a:pPr>
            <a:r>
              <a:t>   → Divides data into three equal parts</a:t>
            </a:r>
          </a:p>
          <a:p>
            <a:pPr>
              <a:defRPr sz="1600"/>
            </a:pPr>
            <a:r>
              <a:t>   → Simple, statistically grounded</a:t>
            </a:r>
          </a:p>
          <a:p>
            <a:pPr>
              <a:defRPr sz="1600"/>
            </a:pPr>
            <a:r>
              <a:t>2. Weighted Scoring Strategy</a:t>
            </a:r>
          </a:p>
          <a:p>
            <a:pPr>
              <a:defRPr sz="1600"/>
            </a:pPr>
            <a:r>
              <a:t>   → Combines metrics with custom weights</a:t>
            </a:r>
          </a:p>
          <a:p>
            <a:pPr>
              <a:defRPr sz="1600"/>
            </a:pPr>
            <a:r>
              <a:t>   → LCP (40%), FCP (30%), CLS (20%), TTI (10%)</a:t>
            </a:r>
          </a:p>
          <a:p>
            <a:pPr>
              <a:defRPr sz="1600"/>
            </a:pPr>
            <a:r>
              <a:t>3. K-means Clustering Strategy ⭐</a:t>
            </a:r>
          </a:p>
          <a:p>
            <a:pPr>
              <a:defRPr sz="1600"/>
            </a:pPr>
            <a:r>
              <a:t>   → Unsupervised learning approach</a:t>
            </a:r>
          </a:p>
          <a:p>
            <a:pPr>
              <a:defRPr sz="1600"/>
            </a:pPr>
            <a:r>
              <a:t>   → Automatically finds natural groupings</a:t>
            </a:r>
          </a:p>
          <a:p>
            <a:pPr>
              <a:defRPr sz="1600"/>
            </a:pPr>
            <a:r>
              <a:t>   → BEST PERFORMANCE: 97.86%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Random Forest (RF)</a:t>
            </a:r>
          </a:p>
          <a:p>
            <a:pPr>
              <a:defRPr sz="1800"/>
            </a:pPr>
            <a:r>
              <a:t>   → Ensemble of decision trees</a:t>
            </a:r>
          </a:p>
          <a:p>
            <a:pPr>
              <a:defRPr sz="1800"/>
            </a:pPr>
            <a:r>
              <a:t>   → Robust to overfitting</a:t>
            </a:r>
          </a:p>
          <a:p>
            <a:pPr>
              <a:defRPr sz="1800"/>
            </a:pPr>
            <a:r>
              <a:t>2. LightGBM ⭐</a:t>
            </a:r>
          </a:p>
          <a:p>
            <a:pPr>
              <a:defRPr sz="1800"/>
            </a:pPr>
            <a:r>
              <a:t>   → Gradient boosting framework</a:t>
            </a:r>
          </a:p>
          <a:p>
            <a:pPr>
              <a:defRPr sz="1800"/>
            </a:pPr>
            <a:r>
              <a:t>   → Highly efficient, best performance</a:t>
            </a:r>
          </a:p>
          <a:p>
            <a:pPr>
              <a:defRPr sz="1800"/>
            </a:pPr>
            <a:r>
              <a:t>3. Keras Neural Network</a:t>
            </a:r>
          </a:p>
          <a:p>
            <a:pPr>
              <a:defRPr sz="1800"/>
            </a:pPr>
            <a:r>
              <a:t>   → Deep learning approach</a:t>
            </a:r>
          </a:p>
          <a:p>
            <a:pPr>
              <a:defRPr sz="1800"/>
            </a:pPr>
            <a:r>
              <a:t>   → 3 hidden layers, dropout regularization</a:t>
            </a:r>
          </a:p>
          <a:p>
            <a:br/>
            <a:pPr>
              <a:defRPr sz="1800"/>
            </a:pPr>
            <a:r>
              <a:t>All models trained with 80-20 train-test split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15 + React</a:t>
            </a:r>
          </a:p>
          <a:p>
            <a:pPr lvl="1">
              <a:defRPr sz="1800"/>
            </a:pPr>
            <a:r>
              <a:t>   → Modern, responsive UI</a:t>
            </a:r>
          </a:p>
          <a:p>
            <a:pPr lvl="1">
              <a:defRPr sz="1800"/>
            </a:pPr>
            <a:r>
              <a:t>   → Real-time analysis dashboard</a:t>
            </a:r>
          </a:p>
          <a:p>
            <a:pPr lvl="1">
              <a:defRPr sz="1800"/>
            </a:pPr>
            <a:r>
              <a:t>Backend: Python FastAPI</a:t>
            </a:r>
          </a:p>
          <a:p>
            <a:pPr lvl="1">
              <a:defRPr sz="1800"/>
            </a:pPr>
            <a:r>
              <a:t>   → RESTful API for predictions</a:t>
            </a:r>
          </a:p>
          <a:p>
            <a:pPr lvl="1">
              <a:defRPr sz="1800"/>
            </a:pPr>
            <a:r>
              <a:t>   → Model serving with joblib</a:t>
            </a:r>
          </a:p>
          <a:p>
            <a:pPr lvl="1">
              <a:defRPr sz="1800"/>
            </a:pPr>
            <a:r>
              <a:t>Machine Learning: scikit-learn, LightGBM</a:t>
            </a:r>
          </a:p>
          <a:p>
            <a:pPr lvl="1">
              <a:defRPr sz="1800"/>
            </a:pPr>
            <a:r>
              <a:t>   → Trained models for instant predictions</a:t>
            </a:r>
          </a:p>
          <a:p>
            <a:pPr lvl="1">
              <a:defRPr sz="1800"/>
            </a:pPr>
            <a:r>
              <a:t>Deployment: Production-ready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2E7D32"/>
                </a:solidFill>
              </a:defRPr>
            </a:pPr>
            <a:r>
              <a:t>Best Model: LightGBM with K-means</a:t>
            </a:r>
          </a:p>
          <a:p>
            <a:br/>
            <a:pPr>
              <a:defRPr sz="2200"/>
            </a:pPr>
            <a:r>
              <a:t>✓ Accuracy: 97.86%</a:t>
            </a:r>
          </a:p>
          <a:p>
            <a:pPr>
              <a:defRPr sz="2200"/>
            </a:pPr>
            <a:r>
              <a:t>✓ Precision: 98.40%</a:t>
            </a:r>
          </a:p>
          <a:p>
            <a:pPr>
              <a:defRPr sz="2200"/>
            </a:pPr>
            <a:r>
              <a:t>✓ Recall: 98.53%</a:t>
            </a:r>
          </a:p>
          <a:p>
            <a:pPr>
              <a:defRPr sz="2200"/>
            </a:pPr>
            <a:r>
              <a:t>✓ F1-Score: 98.47%</a:t>
            </a:r>
          </a:p>
          <a:p>
            <a:br/>
            <a:pPr>
              <a:defRPr sz="2200"/>
            </a:pPr>
            <a:r>
              <a:t>Outperformed all 8 other model combinations!</a:t>
            </a:r>
          </a:p>
        </p:txBody>
      </p:sp>
      <p:pic>
        <p:nvPicPr>
          <p:cNvPr id="4" name="Picture 3" descr="all_metr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2743200"/>
          </a:xfrm>
          <a:prstGeom prst="rect">
            <a:avLst/>
          </a:prstGeom>
        </p:spPr>
      </p:pic>
      <p:pic>
        <p:nvPicPr>
          <p:cNvPr id="5" name="Picture 4" descr="confusion_label_kmeans_l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840480"/>
            <a:ext cx="3200400" cy="2011680"/>
          </a:xfrm>
          <a:prstGeom prst="rect">
            <a:avLst/>
          </a:prstGeom>
        </p:spPr>
      </p:pic>
      <p:pic>
        <p:nvPicPr>
          <p:cNvPr id="6" name="Picture 5" descr="f1_macro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148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Models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K-means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97.86%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98.47%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K-means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96.90%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K-means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95.54%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95.21%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93.93%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91.82%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Weighted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Tertiles +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89.72%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model_comparis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Top 5 Most Important Features:</a:t>
            </a:r>
          </a:p>
          <a:p>
            <a:br/>
            <a:pPr>
              <a:defRPr sz="2000"/>
            </a:pPr>
            <a:r>
              <a:t>1. LCP (Largest Contentful Paint) - 28.3%</a:t>
            </a:r>
          </a:p>
          <a:p>
            <a:pPr>
              <a:defRPr sz="2000"/>
            </a:pPr>
            <a:r>
              <a:t>2. FCP (First Contentful Paint) - 22.1%</a:t>
            </a:r>
          </a:p>
          <a:p>
            <a:pPr>
              <a:defRPr sz="2000"/>
            </a:pPr>
            <a:r>
              <a:t>3. TTI (Time to Interactive) - 18.7%</a:t>
            </a:r>
          </a:p>
          <a:p>
            <a:pPr>
              <a:defRPr sz="2000"/>
            </a:pPr>
            <a:r>
              <a:t>4. CLS (Cumulative Layout Shift) - 15.2%</a:t>
            </a:r>
          </a:p>
          <a:p>
            <a:pPr>
              <a:defRPr sz="2000"/>
            </a:pPr>
            <a:r>
              <a:t>5. Total Blocking Time - 8.9%</a:t>
            </a:r>
          </a:p>
          <a:p>
            <a:br/>
            <a:pPr>
              <a:defRPr sz="2000"/>
            </a:pPr>
            <a:r>
              <a:t>These 5 features account for 93.2% of prediction power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Superiority Over Related Research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+11.47%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Kumar &amp;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+9.47%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+7.47%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Our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98.47%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Best-in-class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Platform Capabilities:</a:t>
            </a:r>
          </a:p>
          <a:p>
            <a:br/>
            <a:pPr>
              <a:defRPr sz="2000"/>
            </a:pPr>
            <a:r>
              <a:t>✓ Instant performance predictions</a:t>
            </a:r>
          </a:p>
          <a:p>
            <a:pPr>
              <a:defRPr sz="2000"/>
            </a:pPr>
            <a:r>
              <a:t>✓ Visual performance grading (A-F)</a:t>
            </a:r>
          </a:p>
          <a:p>
            <a:pPr>
              <a:defRPr sz="2000"/>
            </a:pPr>
            <a:r>
              <a:t>✓ Core Web Vitals analysis</a:t>
            </a:r>
          </a:p>
          <a:p>
            <a:pPr>
              <a:defRPr sz="2000"/>
            </a:pPr>
            <a:r>
              <a:t>✓ Actionable optimization recommendations</a:t>
            </a:r>
          </a:p>
          <a:p>
            <a:pPr>
              <a:defRPr sz="2000"/>
            </a:pPr>
            <a:r>
              <a:t>✓ Performance score breakdown</a:t>
            </a:r>
          </a:p>
          <a:p>
            <a:pPr>
              <a:defRPr sz="2000"/>
            </a:pPr>
            <a:r>
              <a:t>✓ User-friendly dashboard interface</a:t>
            </a:r>
          </a:p>
          <a:p>
            <a:br/>
            <a:pPr>
              <a:defRPr sz="2000"/>
            </a:pPr>
            <a:r>
              <a:t>Deployed and accessible for real-world 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Novel Contributions:</a:t>
            </a:r>
          </a:p>
          <a:p>
            <a:br/>
            <a:pPr>
              <a:defRPr sz="1800"/>
            </a:pPr>
            <a:r>
              <a:t>1. First comprehensive ML study on Core Web Vitals</a:t>
            </a:r>
          </a:p>
          <a:p>
            <a:pPr>
              <a:defRPr sz="1800"/>
            </a:pPr>
            <a:r>
              <a:t>2. Systematic comparison of 3 labeling strategies</a:t>
            </a:r>
          </a:p>
          <a:p>
            <a:pPr>
              <a:defRPr sz="1800"/>
            </a:pPr>
            <a:r>
              <a:t>3. Superior accuracy (98.47% vs 87-91% in prior work)</a:t>
            </a:r>
          </a:p>
          <a:p>
            <a:pPr>
              <a:defRPr sz="1800"/>
            </a:pPr>
            <a:r>
              <a:t>4. K-means clustering proved most effective</a:t>
            </a:r>
          </a:p>
          <a:p>
            <a:pPr>
              <a:defRPr sz="1800"/>
            </a:pPr>
            <a:r>
              <a:t>5. Production-ready web platform implementation</a:t>
            </a:r>
          </a:p>
          <a:p>
            <a:pPr>
              <a:defRPr sz="1800"/>
            </a:pPr>
            <a:r>
              <a:t>6. Open framework for future research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Limitations:</a:t>
            </a:r>
          </a:p>
          <a:p>
            <a:pPr lvl="1">
              <a:defRPr sz="1800"/>
            </a:pPr>
            <a:r>
              <a:t>   • Dataset limited to 1,167 websites</a:t>
            </a:r>
          </a:p>
          <a:p>
            <a:pPr lvl="1">
              <a:defRPr sz="1800"/>
            </a:pPr>
            <a:r>
              <a:t>   • Static analysis only (no real-time monitoring)</a:t>
            </a:r>
          </a:p>
          <a:p>
            <a:br/>
            <a:pPr lvl="1">
              <a:defRPr sz="1800"/>
            </a:pPr>
            <a:r>
              <a:t>Future Research Directions:</a:t>
            </a:r>
          </a:p>
          <a:p>
            <a:pPr lvl="1">
              <a:defRPr sz="1800"/>
            </a:pPr>
            <a:r>
              <a:t>   → Expand dataset to 10,000+ websites</a:t>
            </a:r>
          </a:p>
          <a:p>
            <a:pPr lvl="1">
              <a:defRPr sz="1800"/>
            </a:pPr>
            <a:r>
              <a:t>   → Real-time performance monitoring</a:t>
            </a:r>
          </a:p>
          <a:p>
            <a:pPr lvl="1">
              <a:defRPr sz="1800"/>
            </a:pPr>
            <a:r>
              <a:t>   → Mobile-specific optimizations</a:t>
            </a:r>
          </a:p>
          <a:p>
            <a:pPr lvl="1">
              <a:defRPr sz="1800"/>
            </a:pPr>
            <a:r>
              <a:t>   → Integration with CI/CD pipelines</a:t>
            </a:r>
          </a:p>
          <a:p>
            <a:pPr lvl="1">
              <a:defRPr sz="1800"/>
            </a:pPr>
            <a:r>
              <a:t>   → Deep learning architectures (Transformers)</a:t>
            </a:r>
          </a:p>
          <a:p>
            <a:pPr lvl="1">
              <a:defRPr sz="1800"/>
            </a:pPr>
            <a:r>
              <a:t>   → Multi-device performance prediction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Key Achievements:</a:t>
            </a:r>
          </a:p>
          <a:p>
            <a:br/>
            <a:pPr>
              <a:defRPr sz="1800"/>
            </a:pPr>
            <a:r>
              <a:t>✓ Developed highly accurate ML models (98.47% F1)</a:t>
            </a:r>
          </a:p>
          <a:p>
            <a:pPr>
              <a:defRPr sz="1800"/>
            </a:pPr>
            <a:r>
              <a:t>✓ K-means + LightGBM proved optimal combination</a:t>
            </a:r>
          </a:p>
          <a:p>
            <a:pPr>
              <a:defRPr sz="1800"/>
            </a:pPr>
            <a:r>
              <a:t>✓ Outperformed all related research by 7-11%</a:t>
            </a:r>
          </a:p>
          <a:p>
            <a:pPr>
              <a:defRPr sz="1800"/>
            </a:pPr>
            <a:r>
              <a:t>✓ Built practical, production-ready platform</a:t>
            </a:r>
          </a:p>
          <a:p>
            <a:pPr>
              <a:defRPr sz="1800"/>
            </a:pPr>
            <a:r>
              <a:t>✓ Provided comprehensive framework for web optimization</a:t>
            </a:r>
          </a:p>
          <a:p>
            <a:br/>
            <a:pPr>
              <a:defRPr sz="1800"/>
            </a:pPr>
            <a:r>
              <a:t>This research demonstrates ML's potential in automated web performance optimization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G. Ke et al., "LightGBM: A highly efficient gradient boosting decision tree," NIPS, 2017.</a:t>
            </a:r>
          </a:p>
          <a:p>
            <a:pPr>
              <a:defRPr sz="1200"/>
            </a:pPr>
            <a:r>
              <a:t>[2] Y. Chen et al., "Predicting website conversion rates," ACM Trans. on the Web, 2019.</a:t>
            </a:r>
          </a:p>
          <a:p>
            <a:pPr>
              <a:defRPr sz="1200"/>
            </a:pPr>
            <a:r>
              <a:t>[3] X. Wang et al., "Linking web performance to user satisfaction," IEEE Trans. Services Computing, 2022.</a:t>
            </a:r>
          </a:p>
          <a:p>
            <a:pPr>
              <a:defRPr sz="1200"/>
            </a:pPr>
            <a:r>
              <a:t>[4] A. Kumar and S. Singh, "Website quality assessment with ML," 2021.</a:t>
            </a:r>
          </a:p>
          <a:p>
            <a:pPr>
              <a:defRPr sz="1200"/>
            </a:pPr>
            <a:r>
              <a:t>[5] F. Pedregosa et al., "Scikit-learn: Machine Learning in Python," JMLR, 2011.</a:t>
            </a:r>
          </a:p>
          <a:p>
            <a:pPr>
              <a:defRPr sz="1200"/>
            </a:pPr>
            <a:r>
              <a:t>[6] Google, "Core Web Vitals documentation," web.dev/core-web-vitals (accessed 2025).</a:t>
            </a:r>
          </a:p>
          <a:p>
            <a:pPr>
              <a:defRPr sz="1100" i="1"/>
            </a:pPr>
            <a:r>
              <a:t>Full reference list available in the thesis document (paperrs/Md_Ashikur_Rahman_Thesis_2026_ENHANCED.docx).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Thank you — Questions? | Md Ashikur Rahman |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